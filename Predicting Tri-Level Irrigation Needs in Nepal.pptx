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76" r:id="rId6"/>
    <p:sldId id="277" r:id="rId7"/>
    <p:sldId id="288" r:id="rId8"/>
    <p:sldId id="289" r:id="rId9"/>
    <p:sldId id="290" r:id="rId10"/>
    <p:sldId id="28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8" autoAdjust="0"/>
    <p:restoredTop sz="93987" autoAdjust="0"/>
  </p:normalViewPr>
  <p:slideViewPr>
    <p:cSldViewPr snapToGrid="0" showGuides="1">
      <p:cViewPr varScale="1">
        <p:scale>
          <a:sx n="77" d="100"/>
          <a:sy n="77" d="100"/>
        </p:scale>
        <p:origin x="773" y="72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65D3EB-CBDD-4100-83B7-3BFE0A8F4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B4595-A79D-4567-9FE1-DCF31A42B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E452F-E862-4273-987C-980229E532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E394C-9AD7-48EA-AB0F-18032A3E0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59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52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654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471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F3D49-82D2-ACE8-59DD-98552FA7B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DB113B-2A4D-59A5-1BE0-658C9718B1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5D33F6-EDCB-AD0C-8598-C47384581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CB2562-CA2E-8B77-E03F-F9DC27AB1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989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C8B49-7759-2D37-1F8B-36F8A711A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9E5348-ABB1-3A36-C791-9D15C62214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87497F-0E75-96B8-2BE2-34DED5AC3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8C421-B9FA-0EB6-33B8-98B7C81C7E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762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37014-D1E4-C034-C12D-86DCB8ABF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E93E58-CA25-F257-1AB3-9631A350C7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F614F6-FF40-2259-E790-630E948C9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3E7B2-48F7-3ABD-7FE4-C20198599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0168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0DC36-8EFA-4378-9855-E019C55AC47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91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1498-92C7-4E4B-8045-C9195F453964}" type="datetimeFigureOut">
              <a:rPr lang="en-US" smtClean="0"/>
              <a:t>4/24/2026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00AEF-1595-4419-801B-6E36A33BB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240746"/>
            <a:ext cx="9144000" cy="4154984"/>
          </a:xfrm>
        </p:spPr>
        <p:txBody>
          <a:bodyPr lIns="0" tIns="0" rIns="0" bIns="0" anchor="t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Predicting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Tri-Level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Irrigation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Needs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in</a:t>
            </a:r>
            <a:r>
              <a:rPr lang="en-US" dirty="0"/>
              <a:t> </a:t>
            </a:r>
            <a:r>
              <a:rPr lang="en-US" b="1" dirty="0">
                <a:solidFill>
                  <a:schemeClr val="bg1"/>
                </a:solidFill>
              </a:rPr>
              <a:t>Nepal</a:t>
            </a:r>
            <a:br>
              <a:rPr lang="en-US" sz="4000" dirty="0">
                <a:solidFill>
                  <a:schemeClr val="accent4"/>
                </a:solidFill>
              </a:rPr>
            </a:br>
            <a:r>
              <a:rPr lang="en-US" sz="4000" dirty="0">
                <a:solidFill>
                  <a:schemeClr val="accent4"/>
                </a:solidFill>
              </a:rPr>
              <a:t>A Machine</a:t>
            </a:r>
            <a:r>
              <a:rPr lang="en-US" dirty="0"/>
              <a:t> </a:t>
            </a:r>
            <a:r>
              <a:rPr lang="en-US" sz="4000" dirty="0">
                <a:solidFill>
                  <a:schemeClr val="accent4"/>
                </a:solidFill>
              </a:rPr>
              <a:t>Learning</a:t>
            </a:r>
            <a:r>
              <a:rPr lang="en-US" dirty="0"/>
              <a:t> </a:t>
            </a:r>
            <a:r>
              <a:rPr lang="en-US" sz="4000" dirty="0">
                <a:solidFill>
                  <a:schemeClr val="accent4"/>
                </a:solidFill>
              </a:rPr>
              <a:t>Framework</a:t>
            </a:r>
            <a:r>
              <a:rPr lang="en-US" dirty="0"/>
              <a:t> </a:t>
            </a:r>
            <a:r>
              <a:rPr lang="en-US" sz="4000" dirty="0">
                <a:solidFill>
                  <a:schemeClr val="accent4"/>
                </a:solidFill>
              </a:rPr>
              <a:t>using Logistic Regression and</a:t>
            </a:r>
            <a:r>
              <a:rPr lang="en-US" dirty="0"/>
              <a:t> </a:t>
            </a:r>
            <a:r>
              <a:rPr lang="en-US" sz="4000" dirty="0">
                <a:solidFill>
                  <a:schemeClr val="accent4"/>
                </a:solidFill>
              </a:rPr>
              <a:t>Random</a:t>
            </a:r>
            <a:r>
              <a:rPr lang="en-US" dirty="0"/>
              <a:t> </a:t>
            </a:r>
            <a:r>
              <a:rPr lang="en-US" sz="4000" dirty="0">
                <a:solidFill>
                  <a:schemeClr val="accent4"/>
                </a:solidFill>
              </a:rPr>
              <a:t>Forest</a:t>
            </a:r>
            <a:r>
              <a:rPr lang="en-US" dirty="0"/>
              <a:t> </a:t>
            </a:r>
            <a:r>
              <a:rPr lang="en-US" sz="4000" dirty="0">
                <a:solidFill>
                  <a:schemeClr val="accent4"/>
                </a:solidFill>
              </a:rPr>
              <a:t>Classifier</a:t>
            </a: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1C59176D-59A8-4C02-B448-EE01232FB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92319" y="-608242"/>
            <a:ext cx="2607364" cy="2607364"/>
          </a:xfrm>
          <a:prstGeom prst="diamond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A50B1817-3C7F-41BC-8557-7A00C928E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25258" y="-1770743"/>
            <a:ext cx="3541486" cy="3541486"/>
          </a:xfrm>
          <a:prstGeom prst="diamond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258A7C-35FC-C92A-4ADB-5317A0D7F95D}"/>
              </a:ext>
            </a:extLst>
          </p:cNvPr>
          <p:cNvSpPr txBox="1"/>
          <p:nvPr/>
        </p:nvSpPr>
        <p:spPr>
          <a:xfrm>
            <a:off x="4755045" y="6496401"/>
            <a:ext cx="2681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Swikrit Subedi | April 2026</a:t>
            </a:r>
          </a:p>
        </p:txBody>
      </p:sp>
    </p:spTree>
    <p:extLst>
      <p:ext uri="{BB962C8B-B14F-4D97-AF65-F5344CB8AC3E}">
        <p14:creationId xmlns:p14="http://schemas.microsoft.com/office/powerpoint/2010/main" val="2387849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B5981CF1-BC08-49F8-B0F9-AAF98EC674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The "Why"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4A75A79-A67A-4A23-8588-7FC5EB9A5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4704" y="1076896"/>
            <a:ext cx="10462592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Moving from Reactive to Proactive Irrigation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23D8BB-6A57-B321-8F44-222F3B31EF1C}"/>
              </a:ext>
            </a:extLst>
          </p:cNvPr>
          <p:cNvSpPr txBox="1"/>
          <p:nvPr/>
        </p:nvSpPr>
        <p:spPr>
          <a:xfrm>
            <a:off x="1966291" y="2445026"/>
            <a:ext cx="82594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Current Reality:</a:t>
            </a:r>
            <a:r>
              <a:rPr lang="en-US" dirty="0"/>
              <a:t> 60% of Nepal depends on farming, but irrigation is mostly based on guesswork or visual signs of crop stress.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Risks:</a:t>
            </a:r>
            <a:r>
              <a:rPr lang="en-US" dirty="0"/>
              <a:t> Significant water waste during surplus and crop loss during dry </a:t>
            </a:r>
            <a:r>
              <a:rPr lang="en-US" i="1" dirty="0"/>
              <a:t>Hiunde</a:t>
            </a:r>
            <a:r>
              <a:rPr lang="en-US" dirty="0"/>
              <a:t> and </a:t>
            </a:r>
            <a:r>
              <a:rPr lang="en-US" i="1" dirty="0"/>
              <a:t>Chaite</a:t>
            </a:r>
            <a:r>
              <a:rPr lang="en-US" dirty="0"/>
              <a:t> months.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Goal:</a:t>
            </a:r>
            <a:r>
              <a:rPr lang="en-US" dirty="0"/>
              <a:t> Build a system that predicts water needs before the crop shows signs of damage.</a:t>
            </a:r>
          </a:p>
        </p:txBody>
      </p:sp>
    </p:spTree>
    <p:extLst>
      <p:ext uri="{BB962C8B-B14F-4D97-AF65-F5344CB8AC3E}">
        <p14:creationId xmlns:p14="http://schemas.microsoft.com/office/powerpoint/2010/main" val="3299715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 hidden="1">
            <a:extLst>
              <a:ext uri="{FF2B5EF4-FFF2-40B4-BE49-F238E27FC236}">
                <a16:creationId xmlns:a16="http://schemas.microsoft.com/office/drawing/2014/main" id="{9FDB6406-0CDB-4213-A1B6-DE47D953FED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3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986099-F5F2-4E8B-BE17-81194861A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E3F5479-058B-4FA8-92E9-18CAB8CDC5C5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 Cleaning</a:t>
            </a:r>
            <a:endParaRPr 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E690F4-843A-47A5-8620-4FB01C0D8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rapezoid 1">
            <a:extLst>
              <a:ext uri="{FF2B5EF4-FFF2-40B4-BE49-F238E27FC236}">
                <a16:creationId xmlns:a16="http://schemas.microsoft.com/office/drawing/2014/main" id="{5B804E9F-B6B5-41F9-9B63-9AF435FDC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-405667" y="2673357"/>
            <a:ext cx="4336142" cy="2044685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Trapezoid 42">
            <a:extLst>
              <a:ext uri="{FF2B5EF4-FFF2-40B4-BE49-F238E27FC236}">
                <a16:creationId xmlns:a16="http://schemas.microsoft.com/office/drawing/2014/main" id="{0092C447-C8E1-4B12-B012-E6D21CBB1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1761132" y="2673357"/>
            <a:ext cx="4336142" cy="2044685"/>
          </a:xfrm>
          <a:prstGeom prst="trapezoid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Trapezoid 43">
            <a:extLst>
              <a:ext uri="{FF2B5EF4-FFF2-40B4-BE49-F238E27FC236}">
                <a16:creationId xmlns:a16="http://schemas.microsoft.com/office/drawing/2014/main" id="{7E139379-1914-4446-8D6D-984A47041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927930" y="2673357"/>
            <a:ext cx="4336142" cy="2044685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Trapezoid 44">
            <a:extLst>
              <a:ext uri="{FF2B5EF4-FFF2-40B4-BE49-F238E27FC236}">
                <a16:creationId xmlns:a16="http://schemas.microsoft.com/office/drawing/2014/main" id="{F79B51BB-1B30-4ED8-B26D-21EE8BC675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6094728" y="2631261"/>
            <a:ext cx="4336142" cy="2044685"/>
          </a:xfrm>
          <a:prstGeom prst="trapezoid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Trapezoid 45">
            <a:extLst>
              <a:ext uri="{FF2B5EF4-FFF2-40B4-BE49-F238E27FC236}">
                <a16:creationId xmlns:a16="http://schemas.microsoft.com/office/drawing/2014/main" id="{89DA262E-0502-4E65-8ABA-E063880EA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263685" y="2673357"/>
            <a:ext cx="4336142" cy="2044685"/>
          </a:xfrm>
          <a:prstGeom prst="trapezoid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19BFA5-D0CA-4CF0-8499-504D956B6563}"/>
              </a:ext>
            </a:extLst>
          </p:cNvPr>
          <p:cNvSpPr/>
          <p:nvPr/>
        </p:nvSpPr>
        <p:spPr>
          <a:xfrm>
            <a:off x="1074444" y="3368763"/>
            <a:ext cx="13716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Missing Value and Duplicate check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751D31D-3535-411D-8BAC-95CCC90AB185}"/>
              </a:ext>
            </a:extLst>
          </p:cNvPr>
          <p:cNvSpPr/>
          <p:nvPr/>
        </p:nvSpPr>
        <p:spPr>
          <a:xfrm>
            <a:off x="3242324" y="3369064"/>
            <a:ext cx="13716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Outlier Management Using IQR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A4D735A-8F75-4E2A-8F1A-CC303B0718BA}"/>
              </a:ext>
            </a:extLst>
          </p:cNvPr>
          <p:cNvSpPr/>
          <p:nvPr/>
        </p:nvSpPr>
        <p:spPr>
          <a:xfrm>
            <a:off x="5457464" y="3245651"/>
            <a:ext cx="1371600" cy="984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Scientific Range Validation for features like Soil pH, rainfall etc.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4AB9282-0505-49EB-AABF-998083225E3A}"/>
              </a:ext>
            </a:extLst>
          </p:cNvPr>
          <p:cNvSpPr/>
          <p:nvPr/>
        </p:nvSpPr>
        <p:spPr>
          <a:xfrm>
            <a:off x="7576999" y="3368762"/>
            <a:ext cx="13716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Seasonal Consistency Check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668C4B5-BCEC-465A-ADA5-6A054B15F7A3}"/>
              </a:ext>
            </a:extLst>
          </p:cNvPr>
          <p:cNvSpPr/>
          <p:nvPr/>
        </p:nvSpPr>
        <p:spPr>
          <a:xfrm>
            <a:off x="9745956" y="3368761"/>
            <a:ext cx="13716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Data Type Standardization</a:t>
            </a:r>
          </a:p>
        </p:txBody>
      </p:sp>
    </p:spTree>
    <p:extLst>
      <p:ext uri="{BB962C8B-B14F-4D97-AF65-F5344CB8AC3E}">
        <p14:creationId xmlns:p14="http://schemas.microsoft.com/office/powerpoint/2010/main" val="822569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2C6CE-834A-75F0-D362-8627E8C85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9EC25BE4-3177-9DB8-5A83-057C2206511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75B72CA-EC45-AA86-A6A0-F3051D2BE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4F93FAC9-9EA2-6C58-7F1B-225D39B744A3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The “How"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DCEA48D-96AD-D631-AD98-67A44CA9F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F6146C3-DDBD-ED31-E9ED-D20EFFE5D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4704" y="1076896"/>
            <a:ext cx="10462592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The Machine Learning Pipeline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BA8DD9-3C36-6C42-8857-02C3709F6F3F}"/>
              </a:ext>
            </a:extLst>
          </p:cNvPr>
          <p:cNvSpPr txBox="1"/>
          <p:nvPr/>
        </p:nvSpPr>
        <p:spPr>
          <a:xfrm>
            <a:off x="1966291" y="2445026"/>
            <a:ext cx="82594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Input Features:</a:t>
            </a:r>
            <a:r>
              <a:rPr lang="en-US" dirty="0"/>
              <a:t> 20 variables including Soil pH, Moisture, Humidity, and Organic Carbon.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Imbalance Correction:</a:t>
            </a:r>
            <a:r>
              <a:rPr lang="en-US" dirty="0"/>
              <a:t> Using SMOTE to help the model recognize the rare 3.3% "High Need" cases.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Models:</a:t>
            </a:r>
            <a:r>
              <a:rPr lang="en-US" dirty="0"/>
              <a:t> Comparing Random Forest (for complex patterns) against a Logistic Regression baseline.</a:t>
            </a:r>
          </a:p>
        </p:txBody>
      </p:sp>
    </p:spTree>
    <p:extLst>
      <p:ext uri="{BB962C8B-B14F-4D97-AF65-F5344CB8AC3E}">
        <p14:creationId xmlns:p14="http://schemas.microsoft.com/office/powerpoint/2010/main" val="337418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82C01-686B-793B-FC08-9A977584C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0D78C160-989C-9877-9203-B825135ED9A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D1AC25-C27E-03F3-7C42-DC75F0773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105775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138024CF-EC48-5BA7-026B-FFD1EBF029FE}"/>
              </a:ext>
            </a:extLst>
          </p:cNvPr>
          <p:cNvSpPr txBox="1">
            <a:spLocks/>
          </p:cNvSpPr>
          <p:nvPr/>
        </p:nvSpPr>
        <p:spPr>
          <a:xfrm>
            <a:off x="228600" y="190500"/>
            <a:ext cx="11734800" cy="3877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Evaluation Parameters</a:t>
            </a:r>
            <a:endParaRPr lang="en-US" sz="28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832D30-C448-6B05-2536-B91CAC10B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22898"/>
            <a:ext cx="4086225" cy="0"/>
          </a:xfrm>
          <a:prstGeom prst="line">
            <a:avLst/>
          </a:prstGeom>
          <a:ln>
            <a:solidFill>
              <a:schemeClr val="accent3">
                <a:lumMod val="50000"/>
              </a:schemeClr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113F0DC-E0D2-D5F3-2024-64A3C262DE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4704" y="1076896"/>
            <a:ext cx="10462592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Measuring Success Beyond Accuracy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7C054B-5403-3596-EB7D-6106315A8F03}"/>
              </a:ext>
            </a:extLst>
          </p:cNvPr>
          <p:cNvSpPr txBox="1"/>
          <p:nvPr/>
        </p:nvSpPr>
        <p:spPr>
          <a:xfrm>
            <a:off x="1966291" y="2445026"/>
            <a:ext cx="825941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Macro-averaged F1-Score: </a:t>
            </a:r>
            <a:r>
              <a:rPr lang="en-US" dirty="0"/>
              <a:t>Acts as the primary performance metric, giving equal weight to Low, Medium, and High need classes.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Precision &amp; Recall:</a:t>
            </a:r>
            <a:r>
              <a:rPr lang="en-US" dirty="0"/>
              <a:t> Precision avoids wasting water; Recall avoids losing crops to drought.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Confusion Matrix:</a:t>
            </a:r>
            <a:r>
              <a:rPr lang="en-US" dirty="0"/>
              <a:t> A visual tool to see exactly where the model might confuse "Medium" need with "High" need.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Validation:</a:t>
            </a:r>
            <a:r>
              <a:rPr lang="en-US" dirty="0"/>
              <a:t> Using 5-Fold Stratified Cross-Validation for consistent results across all 5 regions of Nepal.</a:t>
            </a:r>
          </a:p>
        </p:txBody>
      </p:sp>
    </p:spTree>
    <p:extLst>
      <p:ext uri="{BB962C8B-B14F-4D97-AF65-F5344CB8AC3E}">
        <p14:creationId xmlns:p14="http://schemas.microsoft.com/office/powerpoint/2010/main" val="526979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6CC72-611F-1C4D-5CCC-32A928F81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 hidden="1">
            <a:extLst>
              <a:ext uri="{FF2B5EF4-FFF2-40B4-BE49-F238E27FC236}">
                <a16:creationId xmlns:a16="http://schemas.microsoft.com/office/drawing/2014/main" id="{DBFFC9F0-0523-C088-8F7F-9149776F15B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/>
          <a:lstStyle/>
          <a:p>
            <a:r>
              <a:rPr lang="en-US" dirty="0"/>
              <a:t>Project analysis slide 2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017463C-2EFF-958E-1912-ED7331924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4704" y="1076896"/>
            <a:ext cx="10462592" cy="740997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Impact and Expected Outcomes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353E5F-6075-C7D7-4970-51F07D991DF7}"/>
              </a:ext>
            </a:extLst>
          </p:cNvPr>
          <p:cNvSpPr txBox="1"/>
          <p:nvPr/>
        </p:nvSpPr>
        <p:spPr>
          <a:xfrm>
            <a:off x="1966291" y="2445026"/>
            <a:ext cx="82594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Smart Scheduling:</a:t>
            </a:r>
            <a:r>
              <a:rPr lang="en-US" dirty="0"/>
              <a:t> Shifting from traditional calendars to demand-driven irrigation.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Soil Protection:</a:t>
            </a:r>
            <a:r>
              <a:rPr lang="en-US" dirty="0"/>
              <a:t> Preventing soil damage (salinization) in the Terai by avoiding over-irrigation.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IDSS Foundation:</a:t>
            </a:r>
            <a:r>
              <a:rPr lang="en-US" dirty="0"/>
              <a:t> Providing the "logic" for a future National Irrigation Decision Support System.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307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zigZag">
          <a:fgClr>
            <a:schemeClr val="accent3">
              <a:lumMod val="75000"/>
            </a:schemeClr>
          </a:fgClr>
          <a:bgClr>
            <a:schemeClr val="accent3">
              <a:lumMod val="5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2A21665-C64F-4BDA-B2DE-442D70605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325258" y="1544068"/>
            <a:ext cx="3541486" cy="3769865"/>
            <a:chOff x="4325258" y="1229517"/>
            <a:chExt cx="3541486" cy="3769865"/>
          </a:xfrm>
        </p:grpSpPr>
        <p:sp>
          <p:nvSpPr>
            <p:cNvPr id="12" name="Diamond 11">
              <a:extLst>
                <a:ext uri="{FF2B5EF4-FFF2-40B4-BE49-F238E27FC236}">
                  <a16:creationId xmlns:a16="http://schemas.microsoft.com/office/drawing/2014/main" id="{7DC8B409-5FAC-4539-B25A-26BE925A48AF}"/>
                </a:ext>
              </a:extLst>
            </p:cNvPr>
            <p:cNvSpPr/>
            <p:nvPr/>
          </p:nvSpPr>
          <p:spPr>
            <a:xfrm>
              <a:off x="4792319" y="2392018"/>
              <a:ext cx="2607364" cy="2607364"/>
            </a:xfrm>
            <a:prstGeom prst="diamond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Diamond 12">
              <a:extLst>
                <a:ext uri="{FF2B5EF4-FFF2-40B4-BE49-F238E27FC236}">
                  <a16:creationId xmlns:a16="http://schemas.microsoft.com/office/drawing/2014/main" id="{91498E2F-539C-46D3-AF7C-BB1DAE76B114}"/>
                </a:ext>
              </a:extLst>
            </p:cNvPr>
            <p:cNvSpPr/>
            <p:nvPr/>
          </p:nvSpPr>
          <p:spPr>
            <a:xfrm>
              <a:off x="4325258" y="1229517"/>
              <a:ext cx="3541486" cy="3541486"/>
            </a:xfrm>
            <a:prstGeom prst="diamond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FA061601-468D-486D-B8EE-42BD1BE3A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0403"/>
            <a:ext cx="9144000" cy="997196"/>
          </a:xfrm>
        </p:spPr>
        <p:txBody>
          <a:bodyPr lIns="0" tIns="0" rIns="0" bIns="0" anchor="ctr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</a:rPr>
              <a:t>Thank You</a:t>
            </a:r>
            <a:endParaRPr lang="en-US" sz="72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038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455520_Project analysis, from 24Slides_SL_V1.potx" id="{55E7247F-78B2-40DB-9AFE-D4DD42FA8F09}" vid="{22E2FD65-A32D-4798-AF43-CE42F250B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A00BBF-EEBB-4E18-B8CB-F926EAAC48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F609EDA-869E-4BE5-AE5D-B898C584B6F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2FD05317-60D6-4B3A-8545-888496D1A8E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analysis, from 24Slides</Template>
  <TotalTime>153</TotalTime>
  <Words>347</Words>
  <Application>Microsoft Office PowerPoint</Application>
  <PresentationFormat>Widescreen</PresentationFormat>
  <Paragraphs>50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Century Gothic</vt:lpstr>
      <vt:lpstr>Segoe UI Light</vt:lpstr>
      <vt:lpstr>Office Theme</vt:lpstr>
      <vt:lpstr>Predicting Tri-Level Irrigation Needs in Nepal A Machine Learning Framework using Logistic Regression and Random Forest Classifier</vt:lpstr>
      <vt:lpstr>Project analysis slide 2</vt:lpstr>
      <vt:lpstr>Project analysis slide 3</vt:lpstr>
      <vt:lpstr>Project analysis slide 2</vt:lpstr>
      <vt:lpstr>Project analysis slide 2</vt:lpstr>
      <vt:lpstr>Project analysis slide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Swikrit Subedi</dc:creator>
  <cp:lastModifiedBy>Swikrit Subedi</cp:lastModifiedBy>
  <cp:revision>3</cp:revision>
  <dcterms:created xsi:type="dcterms:W3CDTF">2026-04-16T17:08:44Z</dcterms:created>
  <dcterms:modified xsi:type="dcterms:W3CDTF">2026-04-24T15:43:44Z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